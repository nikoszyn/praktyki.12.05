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3" r:id="rId1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E47C37-11BF-858D-A6B0-04ACFECE29BB}" v="148" dt="2026-05-14T08:26:37.005"/>
    <p1510:client id="{EFFC2CF9-1731-A773-223D-13C72BE773A7}" v="159" dt="2026-05-15T09:00:00.9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15.05.2026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175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15.05.2026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738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15.05.2026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3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15.05.2026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303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15.05.2026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180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15.05.2026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4797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15.05.2026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083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15.05.2026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553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15.05.2026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90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15.05.2026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450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15.05.2026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038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8AA868-8872-43E4-8C98-D34DABD1FD38}" type="datetimeFigureOut">
              <a:rPr lang="pl-PL" smtClean="0"/>
              <a:t>15.05.2026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663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sible/ansible?utm" TargetMode="External"/><Relationship Id="rId2" Type="http://schemas.openxmlformats.org/officeDocument/2006/relationships/hyperlink" Target="https://docs.ansible.com/?utm_source=chatgpt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bm.com/think/topics/infrastructure-as-code" TargetMode="External"/><Relationship Id="rId4" Type="http://schemas.openxmlformats.org/officeDocument/2006/relationships/hyperlink" Target="https://www.redhat.com/en/topics/automation/what-is-infrastructure-as-code-iac?u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60042" y="891652"/>
            <a:ext cx="4412021" cy="3030724"/>
          </a:xfrm>
        </p:spPr>
        <p:txBody>
          <a:bodyPr anchor="b">
            <a:normAutofit/>
          </a:bodyPr>
          <a:lstStyle/>
          <a:p>
            <a:pPr algn="r"/>
            <a:r>
              <a:rPr lang="pl-PL" sz="4000">
                <a:solidFill>
                  <a:srgbClr val="FFFFFF"/>
                </a:solidFill>
                <a:ea typeface="+mj-lt"/>
                <a:cs typeface="+mj-lt"/>
              </a:rPr>
              <a:t>Ansible, AWX oraz IaC</a:t>
            </a:r>
            <a:endParaRPr lang="pl-PL" sz="4000">
              <a:solidFill>
                <a:srgbClr val="FFFFFF"/>
              </a:solidFill>
            </a:endParaRP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945791" y="4745317"/>
            <a:ext cx="4126272" cy="1375145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pl-PL">
                <a:solidFill>
                  <a:srgbClr val="FFFFFF"/>
                </a:solidFill>
              </a:rPr>
              <a:t>Nikodem Lentz i Jan Walczak</a:t>
            </a:r>
          </a:p>
        </p:txBody>
      </p:sp>
      <p:pic>
        <p:nvPicPr>
          <p:cNvPr id="4" name="Obraz 3" descr="File:Linux mascot tux.png - Wikimedia Commons">
            <a:extLst>
              <a:ext uri="{FF2B5EF4-FFF2-40B4-BE49-F238E27FC236}">
                <a16:creationId xmlns:a16="http://schemas.microsoft.com/office/drawing/2014/main" id="{3C27531F-25DD-73F2-CF53-9BB54AF0E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760" y="457199"/>
            <a:ext cx="4866800" cy="589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F7488B9-E684-9B84-06E7-4E2AE8616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pl-PL" sz="4000">
                <a:solidFill>
                  <a:srgbClr val="FFFFFF"/>
                </a:solidFill>
                <a:ea typeface="+mj-lt"/>
                <a:cs typeface="+mj-lt"/>
              </a:rPr>
              <a:t>Czym jest Infrastructure as Code (IaC)?</a:t>
            </a:r>
            <a:endParaRPr lang="pl-PL" sz="4000">
              <a:solidFill>
                <a:srgbClr val="FFFFFF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D8B5DA2-5FB6-59F7-3BF4-9149C5044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pl-PL" sz="2000">
                <a:ea typeface="+mn-lt"/>
                <a:cs typeface="+mn-lt"/>
              </a:rPr>
              <a:t>Obejmuje:</a:t>
            </a:r>
            <a:endParaRPr lang="pl-PL" sz="2000"/>
          </a:p>
          <a:p>
            <a:r>
              <a:rPr lang="pl-PL" sz="2000">
                <a:ea typeface="+mn-lt"/>
                <a:cs typeface="+mn-lt"/>
              </a:rPr>
              <a:t>serwery, </a:t>
            </a:r>
            <a:endParaRPr lang="pl-PL" sz="2000"/>
          </a:p>
          <a:p>
            <a:r>
              <a:rPr lang="pl-PL" sz="2000">
                <a:ea typeface="+mn-lt"/>
                <a:cs typeface="+mn-lt"/>
              </a:rPr>
              <a:t>sieci, </a:t>
            </a:r>
            <a:endParaRPr lang="pl-PL" sz="2000"/>
          </a:p>
          <a:p>
            <a:r>
              <a:rPr lang="pl-PL" sz="2000">
                <a:ea typeface="+mn-lt"/>
                <a:cs typeface="+mn-lt"/>
              </a:rPr>
              <a:t>maszyny wirtualne, </a:t>
            </a:r>
            <a:endParaRPr lang="pl-PL" sz="2000"/>
          </a:p>
          <a:p>
            <a:r>
              <a:rPr lang="pl-PL" sz="2000">
                <a:ea typeface="+mn-lt"/>
                <a:cs typeface="+mn-lt"/>
              </a:rPr>
              <a:t>kontenery, </a:t>
            </a:r>
            <a:endParaRPr lang="pl-PL" sz="2000"/>
          </a:p>
          <a:p>
            <a:r>
              <a:rPr lang="pl-PL" sz="2000">
                <a:ea typeface="+mn-lt"/>
                <a:cs typeface="+mn-lt"/>
              </a:rPr>
              <a:t>konfiguracje systemowe. </a:t>
            </a:r>
            <a:endParaRPr lang="pl-PL" sz="2000"/>
          </a:p>
          <a:p>
            <a:pPr marL="0" indent="0">
              <a:buNone/>
            </a:pPr>
            <a:r>
              <a:rPr lang="pl-PL" sz="2000">
                <a:ea typeface="+mn-lt"/>
                <a:cs typeface="+mn-lt"/>
              </a:rPr>
              <a:t>Administrator definiuje konfigurację w plikach tekstowych, które mogą być:</a:t>
            </a:r>
            <a:endParaRPr lang="pl-PL" sz="2000"/>
          </a:p>
          <a:p>
            <a:r>
              <a:rPr lang="pl-PL" sz="2000">
                <a:ea typeface="+mn-lt"/>
                <a:cs typeface="+mn-lt"/>
              </a:rPr>
              <a:t>wersjonowane, </a:t>
            </a:r>
            <a:endParaRPr lang="pl-PL" sz="2000"/>
          </a:p>
          <a:p>
            <a:r>
              <a:rPr lang="pl-PL" sz="2000">
                <a:ea typeface="+mn-lt"/>
                <a:cs typeface="+mn-lt"/>
              </a:rPr>
              <a:t>automatyzowane, </a:t>
            </a:r>
            <a:endParaRPr lang="pl-PL" sz="2000"/>
          </a:p>
          <a:p>
            <a:r>
              <a:rPr lang="pl-PL" sz="2000">
                <a:ea typeface="+mn-lt"/>
                <a:cs typeface="+mn-lt"/>
              </a:rPr>
              <a:t>wielokrotnie wykorzystywane. </a:t>
            </a:r>
            <a:endParaRPr lang="pl-PL" sz="2000"/>
          </a:p>
          <a:p>
            <a:endParaRPr lang="pl-PL" sz="2000"/>
          </a:p>
        </p:txBody>
      </p:sp>
    </p:spTree>
    <p:extLst>
      <p:ext uri="{BB962C8B-B14F-4D97-AF65-F5344CB8AC3E}">
        <p14:creationId xmlns:p14="http://schemas.microsoft.com/office/powerpoint/2010/main" val="101911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FC7AA5B-FFA3-07F6-1119-86D35916E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pl-PL" sz="4000">
                <a:solidFill>
                  <a:srgbClr val="FFFFFF"/>
                </a:solidFill>
                <a:ea typeface="+mj-lt"/>
                <a:cs typeface="+mj-lt"/>
              </a:rPr>
              <a:t>Zalety IaC</a:t>
            </a:r>
            <a:endParaRPr lang="pl-PL" sz="4000">
              <a:solidFill>
                <a:srgbClr val="FFFFFF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E26B365-0BD4-AD7F-ED32-CFA2C3DD8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pl-PL" sz="2000"/>
              <a:t>Najważniejsze zalety Infrastructure as Code</a:t>
            </a:r>
          </a:p>
          <a:p>
            <a:r>
              <a:rPr lang="pl-PL" sz="2000">
                <a:ea typeface="+mn-lt"/>
                <a:cs typeface="+mn-lt"/>
              </a:rPr>
              <a:t>Automatyzacja procesów administracyjnych </a:t>
            </a:r>
            <a:endParaRPr lang="pl-PL" sz="2000"/>
          </a:p>
          <a:p>
            <a:r>
              <a:rPr lang="pl-PL" sz="2000">
                <a:ea typeface="+mn-lt"/>
                <a:cs typeface="+mn-lt"/>
              </a:rPr>
              <a:t>Powtarzalność konfiguracji </a:t>
            </a:r>
            <a:endParaRPr lang="pl-PL" sz="2000"/>
          </a:p>
          <a:p>
            <a:r>
              <a:rPr lang="pl-PL" sz="2000">
                <a:ea typeface="+mn-lt"/>
                <a:cs typeface="+mn-lt"/>
              </a:rPr>
              <a:t>Szybsze wdrażanie środowisk </a:t>
            </a:r>
            <a:endParaRPr lang="pl-PL" sz="2000"/>
          </a:p>
          <a:p>
            <a:r>
              <a:rPr lang="pl-PL" sz="2000">
                <a:ea typeface="+mn-lt"/>
                <a:cs typeface="+mn-lt"/>
              </a:rPr>
              <a:t>Mniejsze ryzyko błędów ludzkich </a:t>
            </a:r>
            <a:endParaRPr lang="pl-PL" sz="2000"/>
          </a:p>
          <a:p>
            <a:r>
              <a:rPr lang="pl-PL" sz="2000">
                <a:ea typeface="+mn-lt"/>
                <a:cs typeface="+mn-lt"/>
              </a:rPr>
              <a:t>Łatwiejsze skalowanie infrastruktury </a:t>
            </a:r>
            <a:endParaRPr lang="pl-PL" sz="2000"/>
          </a:p>
          <a:p>
            <a:r>
              <a:rPr lang="pl-PL" sz="2000">
                <a:ea typeface="+mn-lt"/>
                <a:cs typeface="+mn-lt"/>
              </a:rPr>
              <a:t>Integracja z DevOps i CI/CD </a:t>
            </a:r>
            <a:endParaRPr lang="pl-PL" sz="2000"/>
          </a:p>
          <a:p>
            <a:r>
              <a:rPr lang="pl-PL" sz="2000">
                <a:ea typeface="+mn-lt"/>
                <a:cs typeface="+mn-lt"/>
              </a:rPr>
              <a:t>Możliwość wersjonowania zmian w Git</a:t>
            </a:r>
            <a:endParaRPr lang="pl-PL" sz="2000"/>
          </a:p>
          <a:p>
            <a:endParaRPr lang="pl-PL" sz="2000"/>
          </a:p>
        </p:txBody>
      </p:sp>
    </p:spTree>
    <p:extLst>
      <p:ext uri="{BB962C8B-B14F-4D97-AF65-F5344CB8AC3E}">
        <p14:creationId xmlns:p14="http://schemas.microsoft.com/office/powerpoint/2010/main" val="828170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4E710ED8-EAB3-C631-20F2-589DF4281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465064" cy="5626947"/>
          </a:xfrm>
          <a:noFill/>
        </p:spPr>
        <p:txBody>
          <a:bodyPr anchor="ctr">
            <a:normAutofit/>
          </a:bodyPr>
          <a:lstStyle/>
          <a:p>
            <a:r>
              <a:rPr lang="pl-PL" sz="4800">
                <a:solidFill>
                  <a:schemeClr val="bg1"/>
                </a:solidFill>
                <a:ea typeface="+mj-lt"/>
                <a:cs typeface="+mj-lt"/>
              </a:rPr>
              <a:t>Czym jest Ansible?</a:t>
            </a:r>
            <a:br>
              <a:rPr lang="pl-PL" sz="4800" dirty="0">
                <a:ea typeface="+mj-lt"/>
                <a:cs typeface="+mj-lt"/>
              </a:rPr>
            </a:br>
            <a:r>
              <a:rPr lang="pl-PL" sz="1800">
                <a:solidFill>
                  <a:schemeClr val="bg1"/>
                </a:solidFill>
                <a:ea typeface="+mj-lt"/>
                <a:cs typeface="+mj-lt"/>
              </a:rPr>
              <a:t>Ansible to narzędzie do automatyzacji IT stworzone przez firmę Red Hat.</a:t>
            </a:r>
            <a:endParaRPr lang="pl-PL" sz="1800">
              <a:solidFill>
                <a:schemeClr val="bg1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B22DF65-404A-8A18-8036-D09DE6EAC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2152" y="630936"/>
            <a:ext cx="4978592" cy="56269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z="1800">
                <a:solidFill>
                  <a:schemeClr val="bg1"/>
                </a:solidFill>
                <a:ea typeface="+mn-lt"/>
                <a:cs typeface="+mn-lt"/>
              </a:rPr>
              <a:t>Służy do:</a:t>
            </a:r>
            <a:endParaRPr lang="pl-PL" sz="1800">
              <a:solidFill>
                <a:schemeClr val="bg1"/>
              </a:solidFill>
            </a:endParaRPr>
          </a:p>
          <a:p>
            <a:r>
              <a:rPr lang="pl-PL" sz="1800">
                <a:solidFill>
                  <a:schemeClr val="bg1"/>
                </a:solidFill>
                <a:ea typeface="+mn-lt"/>
                <a:cs typeface="+mn-lt"/>
              </a:rPr>
              <a:t>konfiguracji serwerów, </a:t>
            </a:r>
            <a:endParaRPr lang="pl-PL" sz="1800">
              <a:solidFill>
                <a:schemeClr val="bg1"/>
              </a:solidFill>
            </a:endParaRPr>
          </a:p>
          <a:p>
            <a:r>
              <a:rPr lang="pl-PL" sz="1800">
                <a:solidFill>
                  <a:schemeClr val="bg1"/>
                </a:solidFill>
                <a:ea typeface="+mn-lt"/>
                <a:cs typeface="+mn-lt"/>
              </a:rPr>
              <a:t>wdrażania aplikacji, </a:t>
            </a:r>
            <a:endParaRPr lang="pl-PL" sz="1800">
              <a:solidFill>
                <a:schemeClr val="bg1"/>
              </a:solidFill>
            </a:endParaRPr>
          </a:p>
          <a:p>
            <a:r>
              <a:rPr lang="pl-PL" sz="1800">
                <a:solidFill>
                  <a:schemeClr val="bg1"/>
                </a:solidFill>
                <a:ea typeface="+mn-lt"/>
                <a:cs typeface="+mn-lt"/>
              </a:rPr>
              <a:t>zarządzania systemami, </a:t>
            </a:r>
            <a:endParaRPr lang="pl-PL" sz="1800">
              <a:solidFill>
                <a:schemeClr val="bg1"/>
              </a:solidFill>
            </a:endParaRPr>
          </a:p>
          <a:p>
            <a:r>
              <a:rPr lang="pl-PL" sz="1800">
                <a:solidFill>
                  <a:schemeClr val="bg1"/>
                </a:solidFill>
                <a:ea typeface="+mn-lt"/>
                <a:cs typeface="+mn-lt"/>
              </a:rPr>
              <a:t>automatyzacji zadań administracyjnych. </a:t>
            </a:r>
            <a:endParaRPr lang="pl-PL" sz="1800">
              <a:solidFill>
                <a:schemeClr val="bg1"/>
              </a:solidFill>
            </a:endParaRPr>
          </a:p>
          <a:p>
            <a:r>
              <a:rPr lang="pl-PL" sz="1800">
                <a:solidFill>
                  <a:schemeClr val="bg1"/>
                </a:solidFill>
                <a:ea typeface="+mn-lt"/>
                <a:cs typeface="+mn-lt"/>
              </a:rPr>
              <a:t>Cechy Ansible:</a:t>
            </a:r>
            <a:endParaRPr lang="pl-PL" sz="1800">
              <a:solidFill>
                <a:schemeClr val="bg1"/>
              </a:solidFill>
            </a:endParaRPr>
          </a:p>
          <a:p>
            <a:r>
              <a:rPr lang="pl-PL" sz="1800">
                <a:solidFill>
                  <a:schemeClr val="bg1"/>
                </a:solidFill>
                <a:ea typeface="+mn-lt"/>
                <a:cs typeface="+mn-lt"/>
              </a:rPr>
              <a:t>działa bez agentów (agentless), </a:t>
            </a:r>
            <a:endParaRPr lang="pl-PL" sz="1800">
              <a:solidFill>
                <a:schemeClr val="bg1"/>
              </a:solidFill>
            </a:endParaRPr>
          </a:p>
          <a:p>
            <a:r>
              <a:rPr lang="pl-PL" sz="1800">
                <a:solidFill>
                  <a:schemeClr val="bg1"/>
                </a:solidFill>
                <a:ea typeface="+mn-lt"/>
                <a:cs typeface="+mn-lt"/>
              </a:rPr>
              <a:t>wykorzystuje SSH, </a:t>
            </a:r>
            <a:endParaRPr lang="pl-PL" sz="1800">
              <a:solidFill>
                <a:schemeClr val="bg1"/>
              </a:solidFill>
            </a:endParaRPr>
          </a:p>
          <a:p>
            <a:r>
              <a:rPr lang="pl-PL" sz="1800">
                <a:solidFill>
                  <a:schemeClr val="bg1"/>
                </a:solidFill>
                <a:ea typeface="+mn-lt"/>
                <a:cs typeface="+mn-lt"/>
              </a:rPr>
              <a:t>używa plików YAML, </a:t>
            </a:r>
            <a:endParaRPr lang="pl-PL" sz="1800">
              <a:solidFill>
                <a:schemeClr val="bg1"/>
              </a:solidFill>
            </a:endParaRPr>
          </a:p>
          <a:p>
            <a:r>
              <a:rPr lang="pl-PL" sz="1800">
                <a:solidFill>
                  <a:schemeClr val="bg1"/>
                </a:solidFill>
                <a:ea typeface="+mn-lt"/>
                <a:cs typeface="+mn-lt"/>
              </a:rPr>
              <a:t>jest prosty w konfiguracji. </a:t>
            </a:r>
            <a:endParaRPr lang="pl-PL" sz="1800">
              <a:solidFill>
                <a:schemeClr val="bg1"/>
              </a:solidFill>
            </a:endParaRPr>
          </a:p>
          <a:p>
            <a:endParaRPr lang="pl-PL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934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EEEFBA7-F8C3-87CA-FCD3-21C626152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pl-PL" sz="4000">
                <a:solidFill>
                  <a:srgbClr val="FFFFFF"/>
                </a:solidFill>
                <a:ea typeface="+mj-lt"/>
                <a:cs typeface="+mj-lt"/>
              </a:rPr>
              <a:t>Jak działa Ansible?</a:t>
            </a:r>
            <a:endParaRPr lang="pl-PL" sz="4000">
              <a:solidFill>
                <a:srgbClr val="FFFFFF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2586AC9-40BF-247E-09DC-B9D46282B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pl-PL" sz="2000">
                <a:ea typeface="+mn-lt"/>
                <a:cs typeface="+mn-lt"/>
              </a:rPr>
              <a:t>Podstawowe elementy:</a:t>
            </a:r>
            <a:endParaRPr lang="pl-PL" sz="2000"/>
          </a:p>
          <a:p>
            <a:r>
              <a:rPr lang="pl-PL" sz="2000" b="1">
                <a:ea typeface="+mn-lt"/>
                <a:cs typeface="+mn-lt"/>
              </a:rPr>
              <a:t>Inventory</a:t>
            </a:r>
            <a:r>
              <a:rPr lang="pl-PL" sz="2000">
                <a:ea typeface="+mn-lt"/>
                <a:cs typeface="+mn-lt"/>
              </a:rPr>
              <a:t> — lista zarządzanych hostów </a:t>
            </a:r>
            <a:endParaRPr lang="pl-PL" sz="2000"/>
          </a:p>
          <a:p>
            <a:r>
              <a:rPr lang="pl-PL" sz="2000" b="1">
                <a:ea typeface="+mn-lt"/>
                <a:cs typeface="+mn-lt"/>
              </a:rPr>
              <a:t>Playbook</a:t>
            </a:r>
            <a:r>
              <a:rPr lang="pl-PL" sz="2000">
                <a:ea typeface="+mn-lt"/>
                <a:cs typeface="+mn-lt"/>
              </a:rPr>
              <a:t> — zestaw instrukcji automatyzacji </a:t>
            </a:r>
            <a:endParaRPr lang="pl-PL" sz="2000"/>
          </a:p>
          <a:p>
            <a:r>
              <a:rPr lang="pl-PL" sz="2000" b="1">
                <a:ea typeface="+mn-lt"/>
                <a:cs typeface="+mn-lt"/>
              </a:rPr>
              <a:t>Modules</a:t>
            </a:r>
            <a:r>
              <a:rPr lang="pl-PL" sz="2000">
                <a:ea typeface="+mn-lt"/>
                <a:cs typeface="+mn-lt"/>
              </a:rPr>
              <a:t> — moduły wykonujące konkretne zadania </a:t>
            </a:r>
            <a:endParaRPr lang="pl-PL" sz="2000"/>
          </a:p>
          <a:p>
            <a:r>
              <a:rPr lang="pl-PL" sz="2000" b="1">
                <a:ea typeface="+mn-lt"/>
                <a:cs typeface="+mn-lt"/>
              </a:rPr>
              <a:t>SSH</a:t>
            </a:r>
            <a:r>
              <a:rPr lang="pl-PL" sz="2000">
                <a:ea typeface="+mn-lt"/>
                <a:cs typeface="+mn-lt"/>
              </a:rPr>
              <a:t> — komunikacja z serwerami </a:t>
            </a:r>
            <a:endParaRPr lang="pl-PL" sz="2000"/>
          </a:p>
          <a:p>
            <a:pPr marL="0" indent="0">
              <a:buNone/>
            </a:pPr>
            <a:r>
              <a:rPr lang="pl-PL" sz="2000">
                <a:ea typeface="+mn-lt"/>
                <a:cs typeface="+mn-lt"/>
              </a:rPr>
              <a:t>Proces działania:</a:t>
            </a:r>
            <a:endParaRPr lang="pl-PL" sz="2000"/>
          </a:p>
          <a:p>
            <a:pPr marL="514350" indent="-514350"/>
            <a:r>
              <a:rPr lang="pl-PL" sz="2000">
                <a:ea typeface="+mn-lt"/>
                <a:cs typeface="+mn-lt"/>
              </a:rPr>
              <a:t>Administrator uruchamia playbook. </a:t>
            </a:r>
            <a:endParaRPr lang="pl-PL" sz="2000"/>
          </a:p>
          <a:p>
            <a:pPr marL="514350" indent="-514350"/>
            <a:r>
              <a:rPr lang="pl-PL" sz="2000">
                <a:ea typeface="+mn-lt"/>
                <a:cs typeface="+mn-lt"/>
              </a:rPr>
              <a:t>Ansible łączy się z hostami. </a:t>
            </a:r>
            <a:endParaRPr lang="pl-PL" sz="2000"/>
          </a:p>
          <a:p>
            <a:pPr marL="514350" indent="-514350"/>
            <a:r>
              <a:rPr lang="pl-PL" sz="2000">
                <a:ea typeface="+mn-lt"/>
                <a:cs typeface="+mn-lt"/>
              </a:rPr>
              <a:t>Wykonywane są zadania automatyzacyjne. </a:t>
            </a:r>
            <a:endParaRPr lang="pl-PL" sz="2000"/>
          </a:p>
          <a:p>
            <a:pPr marL="514350" indent="-514350"/>
            <a:r>
              <a:rPr lang="pl-PL" sz="2000">
                <a:ea typeface="+mn-lt"/>
                <a:cs typeface="+mn-lt"/>
              </a:rPr>
              <a:t>System raportuje wynik operacji.</a:t>
            </a:r>
            <a:endParaRPr lang="pl-PL" sz="2000"/>
          </a:p>
          <a:p>
            <a:endParaRPr lang="pl-PL" sz="2000"/>
          </a:p>
        </p:txBody>
      </p:sp>
    </p:spTree>
    <p:extLst>
      <p:ext uri="{BB962C8B-B14F-4D97-AF65-F5344CB8AC3E}">
        <p14:creationId xmlns:p14="http://schemas.microsoft.com/office/powerpoint/2010/main" val="1370588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7">
            <a:extLst>
              <a:ext uri="{FF2B5EF4-FFF2-40B4-BE49-F238E27FC236}">
                <a16:creationId xmlns:a16="http://schemas.microsoft.com/office/drawing/2014/main" id="{894BFCDC-29F4-F364-79B2-D5363B1A2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9">
            <a:extLst>
              <a:ext uri="{FF2B5EF4-FFF2-40B4-BE49-F238E27FC236}">
                <a16:creationId xmlns:a16="http://schemas.microsoft.com/office/drawing/2014/main" id="{7B83C11B-B528-15A6-E4D4-948943849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F5E6B626-04C9-4463-4DFD-BDAACB62E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A642C5EC-601C-21E2-7FBA-3C068924A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91B69690-FAA1-1718-6C7D-3AA83DA02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C0D8EEF4-F484-A86D-24D0-19513E5E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19">
            <a:extLst>
              <a:ext uri="{FF2B5EF4-FFF2-40B4-BE49-F238E27FC236}">
                <a16:creationId xmlns:a16="http://schemas.microsoft.com/office/drawing/2014/main" id="{619F1BEA-151B-CD6D-D1F9-B2BFD8EBF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6925E6B-F1F0-D538-C94D-2729785DD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721" y="1910002"/>
            <a:ext cx="3376954" cy="1813786"/>
          </a:xfrm>
        </p:spPr>
        <p:txBody>
          <a:bodyPr/>
          <a:lstStyle/>
          <a:p>
            <a:pPr algn="r"/>
            <a:r>
              <a:rPr lang="pl-PL">
                <a:solidFill>
                  <a:schemeClr val="bg1"/>
                </a:solidFill>
              </a:rPr>
              <a:t>Przykładowy Playbook:</a:t>
            </a:r>
            <a:endParaRPr lang="pl-PL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BB8E4665-4AB5-DE5C-F612-9609402E89A9}"/>
              </a:ext>
            </a:extLst>
          </p:cNvPr>
          <p:cNvSpPr txBox="1"/>
          <p:nvPr/>
        </p:nvSpPr>
        <p:spPr>
          <a:xfrm>
            <a:off x="4644893" y="1628584"/>
            <a:ext cx="5670217" cy="2862322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>
                <a:solidFill>
                  <a:srgbClr val="79C0FF"/>
                </a:solidFill>
                <a:highlight>
                  <a:srgbClr val="121314"/>
                </a:highlight>
                <a:latin typeface="Consolas"/>
              </a:rPr>
              <a:t>---</a:t>
            </a:r>
            <a:endParaRPr lang="pl-PL"/>
          </a:p>
          <a:p>
            <a:r>
              <a:rPr lang="pl-PL">
                <a:solidFill>
                  <a:srgbClr val="C9D1D9"/>
                </a:solidFill>
                <a:highlight>
                  <a:srgbClr val="121314"/>
                </a:highlight>
                <a:latin typeface="Consolas"/>
              </a:rPr>
              <a:t>- </a:t>
            </a:r>
            <a:r>
              <a:rPr lang="pl-PL">
                <a:solidFill>
                  <a:srgbClr val="7EE787"/>
                </a:solidFill>
                <a:highlight>
                  <a:srgbClr val="121314"/>
                </a:highlight>
                <a:latin typeface="Consolas"/>
              </a:rPr>
              <a:t>hosts</a:t>
            </a:r>
            <a:r>
              <a:rPr lang="pl-PL">
                <a:solidFill>
                  <a:srgbClr val="C9D1D9"/>
                </a:solidFill>
                <a:highlight>
                  <a:srgbClr val="121314"/>
                </a:highlight>
                <a:latin typeface="Consolas"/>
              </a:rPr>
              <a:t>: </a:t>
            </a:r>
            <a:r>
              <a:rPr lang="pl-PL">
                <a:solidFill>
                  <a:srgbClr val="A5D6FF"/>
                </a:solidFill>
                <a:highlight>
                  <a:srgbClr val="121314"/>
                </a:highlight>
                <a:latin typeface="Consolas"/>
              </a:rPr>
              <a:t>localhost</a:t>
            </a:r>
            <a:endParaRPr lang="pl-PL"/>
          </a:p>
          <a:p>
            <a:r>
              <a:rPr lang="pl-PL" dirty="0">
                <a:solidFill>
                  <a:srgbClr val="C9D1D9"/>
                </a:solidFill>
                <a:highlight>
                  <a:srgbClr val="121314"/>
                </a:highlight>
                <a:latin typeface="Consolas"/>
              </a:rPr>
              <a:t>  </a:t>
            </a:r>
            <a:r>
              <a:rPr lang="pl-PL">
                <a:solidFill>
                  <a:srgbClr val="7EE787"/>
                </a:solidFill>
                <a:highlight>
                  <a:srgbClr val="121314"/>
                </a:highlight>
                <a:latin typeface="Consolas"/>
              </a:rPr>
              <a:t>tasks</a:t>
            </a:r>
            <a:r>
              <a:rPr lang="pl-PL">
                <a:solidFill>
                  <a:srgbClr val="C9D1D9"/>
                </a:solidFill>
                <a:highlight>
                  <a:srgbClr val="121314"/>
                </a:highlight>
                <a:latin typeface="Consolas"/>
              </a:rPr>
              <a:t>:</a:t>
            </a:r>
            <a:endParaRPr lang="pl-PL"/>
          </a:p>
          <a:p>
            <a:r>
              <a:rPr lang="pl-PL">
                <a:solidFill>
                  <a:srgbClr val="C9D1D9"/>
                </a:solidFill>
                <a:highlight>
                  <a:srgbClr val="121314"/>
                </a:highlight>
                <a:latin typeface="Consolas"/>
              </a:rPr>
              <a:t>    - </a:t>
            </a:r>
            <a:r>
              <a:rPr lang="pl-PL">
                <a:solidFill>
                  <a:srgbClr val="7EE787"/>
                </a:solidFill>
                <a:highlight>
                  <a:srgbClr val="121314"/>
                </a:highlight>
                <a:latin typeface="Consolas"/>
              </a:rPr>
              <a:t>name</a:t>
            </a:r>
            <a:r>
              <a:rPr lang="pl-PL">
                <a:solidFill>
                  <a:srgbClr val="C9D1D9"/>
                </a:solidFill>
                <a:highlight>
                  <a:srgbClr val="121314"/>
                </a:highlight>
                <a:latin typeface="Consolas"/>
              </a:rPr>
              <a:t>: </a:t>
            </a:r>
            <a:r>
              <a:rPr lang="pl-PL">
                <a:solidFill>
                  <a:srgbClr val="A5D6FF"/>
                </a:solidFill>
                <a:highlight>
                  <a:srgbClr val="121314"/>
                </a:highlight>
                <a:latin typeface="Consolas"/>
              </a:rPr>
              <a:t>Test polaczenia</a:t>
            </a:r>
            <a:endParaRPr lang="pl-PL"/>
          </a:p>
          <a:p>
            <a:r>
              <a:rPr lang="pl-PL" dirty="0">
                <a:solidFill>
                  <a:srgbClr val="C9D1D9"/>
                </a:solidFill>
                <a:highlight>
                  <a:srgbClr val="121314"/>
                </a:highlight>
                <a:latin typeface="Consolas"/>
              </a:rPr>
              <a:t>      </a:t>
            </a:r>
            <a:r>
              <a:rPr lang="pl-PL">
                <a:solidFill>
                  <a:srgbClr val="7EE787"/>
                </a:solidFill>
                <a:highlight>
                  <a:srgbClr val="121314"/>
                </a:highlight>
                <a:latin typeface="Consolas"/>
              </a:rPr>
              <a:t>ping</a:t>
            </a:r>
            <a:r>
              <a:rPr lang="pl-PL">
                <a:solidFill>
                  <a:srgbClr val="C9D1D9"/>
                </a:solidFill>
                <a:highlight>
                  <a:srgbClr val="121314"/>
                </a:highlight>
                <a:latin typeface="Consolas"/>
              </a:rPr>
              <a:t>:</a:t>
            </a:r>
            <a:endParaRPr lang="pl-PL"/>
          </a:p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pl-PL" dirty="0"/>
          </a:p>
        </p:txBody>
      </p:sp>
      <p:sp>
        <p:nvSpPr>
          <p:cNvPr id="8" name="Symbol zastępczy zawartości 7">
            <a:extLst>
              <a:ext uri="{FF2B5EF4-FFF2-40B4-BE49-F238E27FC236}">
                <a16:creationId xmlns:a16="http://schemas.microsoft.com/office/drawing/2014/main" id="{59F01D81-76F1-0BDD-4CE3-238A46218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9541" y="4700005"/>
            <a:ext cx="9078411" cy="14962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2000"/>
              <a:t>Playbook sprawdza połączenie serwera z urządzeniem</a:t>
            </a:r>
          </a:p>
        </p:txBody>
      </p:sp>
    </p:spTree>
    <p:extLst>
      <p:ext uri="{BB962C8B-B14F-4D97-AF65-F5344CB8AC3E}">
        <p14:creationId xmlns:p14="http://schemas.microsoft.com/office/powerpoint/2010/main" val="2481117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4D25170-2550-7809-7A86-D2D8CD257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pl-PL" sz="4000">
                <a:solidFill>
                  <a:srgbClr val="FFFFFF"/>
                </a:solidFill>
                <a:ea typeface="+mj-lt"/>
                <a:cs typeface="+mj-lt"/>
              </a:rPr>
              <a:t>AWX to open-source’owy interfejs webowy dla Ansible.</a:t>
            </a:r>
            <a:endParaRPr lang="pl-PL" sz="4000">
              <a:solidFill>
                <a:srgbClr val="FFFFFF"/>
              </a:solidFill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9A093C8-1B13-4B4D-C8BD-096CE1C9D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pl-PL" sz="2000">
                <a:ea typeface="+mn-lt"/>
                <a:cs typeface="+mn-lt"/>
              </a:rPr>
              <a:t>Zapewnia:</a:t>
            </a:r>
            <a:endParaRPr lang="pl-PL" sz="2000"/>
          </a:p>
          <a:p>
            <a:r>
              <a:rPr lang="pl-PL" sz="2000">
                <a:ea typeface="+mn-lt"/>
                <a:cs typeface="+mn-lt"/>
              </a:rPr>
              <a:t>panel graficzny GUI, </a:t>
            </a:r>
            <a:endParaRPr lang="pl-PL" sz="2000"/>
          </a:p>
          <a:p>
            <a:r>
              <a:rPr lang="pl-PL" sz="2000">
                <a:ea typeface="+mn-lt"/>
                <a:cs typeface="+mn-lt"/>
              </a:rPr>
              <a:t>centralne zarządzanie automatyzacją, </a:t>
            </a:r>
            <a:endParaRPr lang="pl-PL" sz="2000"/>
          </a:p>
          <a:p>
            <a:r>
              <a:rPr lang="pl-PL" sz="2000">
                <a:ea typeface="+mn-lt"/>
                <a:cs typeface="+mn-lt"/>
              </a:rPr>
              <a:t>harmonogramowanie zadań, </a:t>
            </a:r>
            <a:endParaRPr lang="pl-PL" sz="2000"/>
          </a:p>
          <a:p>
            <a:r>
              <a:rPr lang="pl-PL" sz="2000">
                <a:ea typeface="+mn-lt"/>
                <a:cs typeface="+mn-lt"/>
              </a:rPr>
              <a:t>kontrolę użytkowników i uprawnień.</a:t>
            </a:r>
            <a:endParaRPr lang="pl-PL" sz="2000"/>
          </a:p>
          <a:p>
            <a:endParaRPr lang="pl-PL" sz="2000"/>
          </a:p>
        </p:txBody>
      </p:sp>
    </p:spTree>
    <p:extLst>
      <p:ext uri="{BB962C8B-B14F-4D97-AF65-F5344CB8AC3E}">
        <p14:creationId xmlns:p14="http://schemas.microsoft.com/office/powerpoint/2010/main" val="715393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6FB29D3F-CFC3-D025-DCF6-E5139268D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ectangle 9">
            <a:extLst>
              <a:ext uri="{FF2B5EF4-FFF2-40B4-BE49-F238E27FC236}">
                <a16:creationId xmlns:a16="http://schemas.microsoft.com/office/drawing/2014/main" id="{926C8212-CDEE-561D-FE53-705F88A6A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A2D2EB02-1EF2-AB0C-EEEE-8D52B078D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9E6E6140-6D70-54C2-E85F-3E0BF8266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9BF6C487-3A93-E757-165A-7F589B822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7">
            <a:extLst>
              <a:ext uri="{FF2B5EF4-FFF2-40B4-BE49-F238E27FC236}">
                <a16:creationId xmlns:a16="http://schemas.microsoft.com/office/drawing/2014/main" id="{2CFD65CD-5B92-0D05-CB88-2F2E8463B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9BAB7BB0-7583-FD76-542E-522A029B1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64E5288-1B38-6572-CFC0-06044A1A6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0035" y="365125"/>
            <a:ext cx="6423765" cy="1346439"/>
          </a:xfrm>
        </p:spPr>
        <p:txBody>
          <a:bodyPr/>
          <a:lstStyle/>
          <a:p>
            <a:r>
              <a:rPr lang="pl-PL">
                <a:ea typeface="+mj-lt"/>
                <a:cs typeface="+mj-lt"/>
              </a:rPr>
              <a:t>Funkcje AWX</a:t>
            </a:r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63F0844-90F3-8FBB-459B-8C3A61223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0035" y="1825625"/>
            <a:ext cx="642376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l-PL"/>
              <a:t>Najważniejsze funkcje AWX</a:t>
            </a:r>
          </a:p>
          <a:p>
            <a:r>
              <a:rPr lang="pl-PL">
                <a:ea typeface="+mn-lt"/>
                <a:cs typeface="+mn-lt"/>
              </a:rPr>
              <a:t>Zarządzanie playbookami przez WWW </a:t>
            </a:r>
            <a:endParaRPr lang="pl-PL"/>
          </a:p>
          <a:p>
            <a:r>
              <a:rPr lang="pl-PL">
                <a:ea typeface="+mn-lt"/>
                <a:cs typeface="+mn-lt"/>
              </a:rPr>
              <a:t>Historia uruchomień i logi </a:t>
            </a:r>
            <a:endParaRPr lang="pl-PL"/>
          </a:p>
          <a:p>
            <a:r>
              <a:rPr lang="pl-PL">
                <a:ea typeface="+mn-lt"/>
                <a:cs typeface="+mn-lt"/>
              </a:rPr>
              <a:t>Integracja z Git </a:t>
            </a:r>
            <a:endParaRPr lang="pl-PL"/>
          </a:p>
          <a:p>
            <a:r>
              <a:rPr lang="pl-PL">
                <a:ea typeface="+mn-lt"/>
                <a:cs typeface="+mn-lt"/>
              </a:rPr>
              <a:t>Role i uprawnienia użytkowników </a:t>
            </a:r>
            <a:endParaRPr lang="pl-PL"/>
          </a:p>
          <a:p>
            <a:r>
              <a:rPr lang="pl-PL">
                <a:ea typeface="+mn-lt"/>
                <a:cs typeface="+mn-lt"/>
              </a:rPr>
              <a:t>REST API </a:t>
            </a:r>
            <a:endParaRPr lang="pl-PL"/>
          </a:p>
          <a:p>
            <a:r>
              <a:rPr lang="pl-PL">
                <a:ea typeface="+mn-lt"/>
                <a:cs typeface="+mn-lt"/>
              </a:rPr>
              <a:t>Harmonogramy automatycznych zadań </a:t>
            </a:r>
            <a:endParaRPr lang="pl-PL"/>
          </a:p>
          <a:p>
            <a:r>
              <a:rPr lang="pl-PL">
                <a:ea typeface="+mn-lt"/>
                <a:cs typeface="+mn-lt"/>
              </a:rPr>
              <a:t>Monitoring wykonania automatyzacji</a:t>
            </a:r>
            <a:endParaRPr lang="pl-PL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76057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C410C5CF-8374-0B38-E196-CB2A2B443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ectangle 9">
            <a:extLst>
              <a:ext uri="{FF2B5EF4-FFF2-40B4-BE49-F238E27FC236}">
                <a16:creationId xmlns:a16="http://schemas.microsoft.com/office/drawing/2014/main" id="{E7491EBB-9CBA-FCC1-85E9-FA7A73FAF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0713D5C2-51EA-FE7F-60D7-5603E8F1E3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DAF14BF3-B8B2-464F-ED52-D267073DA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1B855BD-CB57-CB65-A744-02F88FFA0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7">
            <a:extLst>
              <a:ext uri="{FF2B5EF4-FFF2-40B4-BE49-F238E27FC236}">
                <a16:creationId xmlns:a16="http://schemas.microsoft.com/office/drawing/2014/main" id="{C1AD0CF0-C994-BCDE-D40A-0D58D1893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2BE2EA3E-9C35-8972-695D-2DBD1CBF7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EB5AF67-073F-5F68-532E-6D2AEC9FA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9049" y="365125"/>
            <a:ext cx="5494751" cy="1346439"/>
          </a:xfrm>
        </p:spPr>
        <p:txBody>
          <a:bodyPr/>
          <a:lstStyle/>
          <a:p>
            <a:r>
              <a:rPr lang="pl-PL">
                <a:ea typeface="+mj-lt"/>
                <a:cs typeface="+mj-lt"/>
              </a:rPr>
              <a:t>Ansible vs AWX</a:t>
            </a:r>
            <a:endParaRPr lang="pl-PL"/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29210E87-1B92-1323-1636-27D9D1A6FE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351785"/>
              </p:ext>
            </p:extLst>
          </p:nvPr>
        </p:nvGraphicFramePr>
        <p:xfrm>
          <a:off x="4624191" y="2338191"/>
          <a:ext cx="6728092" cy="2942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4046">
                  <a:extLst>
                    <a:ext uri="{9D8B030D-6E8A-4147-A177-3AD203B41FA5}">
                      <a16:colId xmlns:a16="http://schemas.microsoft.com/office/drawing/2014/main" val="4044642451"/>
                    </a:ext>
                  </a:extLst>
                </a:gridCol>
                <a:gridCol w="3364046">
                  <a:extLst>
                    <a:ext uri="{9D8B030D-6E8A-4147-A177-3AD203B41FA5}">
                      <a16:colId xmlns:a16="http://schemas.microsoft.com/office/drawing/2014/main" val="1977181920"/>
                    </a:ext>
                  </a:extLst>
                </a:gridCol>
              </a:tblGrid>
              <a:tr h="49040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1800" b="0" i="0" u="none" strike="noStrike" noProof="0">
                          <a:latin typeface="Aptos"/>
                        </a:rPr>
                        <a:t>Ansible</a:t>
                      </a:r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1800" b="0" i="0" u="none" strike="noStrike" noProof="0">
                          <a:latin typeface="Aptos"/>
                        </a:rPr>
                        <a:t>AWX</a:t>
                      </a:r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2974379"/>
                  </a:ext>
                </a:extLst>
              </a:tr>
              <a:tr h="49040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1800" b="0" i="0" u="none" strike="noStrike" noProof="0">
                          <a:latin typeface="Aptos"/>
                        </a:rPr>
                        <a:t>Narzędzie CLI</a:t>
                      </a:r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1800" b="0" i="0" u="none" strike="noStrike" noProof="0">
                          <a:latin typeface="Aptos"/>
                        </a:rPr>
                        <a:t>Interfejs WWW</a:t>
                      </a:r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1405062"/>
                  </a:ext>
                </a:extLst>
              </a:tr>
              <a:tr h="49040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1800" b="0" i="0" u="none" strike="noStrike" noProof="0">
                          <a:latin typeface="Aptos"/>
                        </a:rPr>
                        <a:t>Obsługa w terminalu</a:t>
                      </a:r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1800" b="0" i="0" u="none" strike="noStrike" noProof="0">
                          <a:latin typeface="Aptos"/>
                        </a:rPr>
                        <a:t>Obsługa graficzna</a:t>
                      </a:r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7551451"/>
                  </a:ext>
                </a:extLst>
              </a:tr>
              <a:tr h="49040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1800" b="0" i="0" u="none" strike="noStrike" noProof="0">
                          <a:latin typeface="Aptos"/>
                        </a:rPr>
                        <a:t>Lekka instalacja</a:t>
                      </a:r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/>
                        <a:t>Rozbudowane zarządzanie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620353"/>
                  </a:ext>
                </a:extLst>
              </a:tr>
              <a:tr h="49040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1800" b="0" i="0" u="none" strike="noStrike" noProof="0">
                          <a:latin typeface="Aptos"/>
                        </a:rPr>
                        <a:t>Automatyzacja lokalna</a:t>
                      </a:r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1800" b="0" i="0" u="none" strike="noStrike" noProof="0">
                          <a:latin typeface="Aptos"/>
                        </a:rPr>
                        <a:t>Zarządzanie centralne</a:t>
                      </a:r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456806"/>
                  </a:ext>
                </a:extLst>
              </a:tr>
              <a:tr h="49040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1800" b="0" i="0" u="none" strike="noStrike" noProof="0">
                          <a:latin typeface="Aptos"/>
                        </a:rPr>
                        <a:t>Brak GUI</a:t>
                      </a:r>
                      <a:endParaRPr lang="pl-P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1800" b="0" i="0" u="none" strike="noStrike" noProof="0">
                          <a:latin typeface="Aptos"/>
                        </a:rPr>
                        <a:t>GUI i dashboard</a:t>
                      </a:r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774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6303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1CEEA7C3-110F-F238-BBCA-3829FF64D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ectangle 9">
            <a:extLst>
              <a:ext uri="{FF2B5EF4-FFF2-40B4-BE49-F238E27FC236}">
                <a16:creationId xmlns:a16="http://schemas.microsoft.com/office/drawing/2014/main" id="{D25EE84C-71DB-31B8-F825-4E4B5292E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9B863AA5-90BD-9AF8-21F0-B1F7AA90A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646429F8-875E-A7C5-F412-A16997C1A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6D3946E3-C2D0-B9F5-53CF-08D57CBB0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7">
            <a:extLst>
              <a:ext uri="{FF2B5EF4-FFF2-40B4-BE49-F238E27FC236}">
                <a16:creationId xmlns:a16="http://schemas.microsoft.com/office/drawing/2014/main" id="{CA7E6861-8672-C3A9-3517-A89F7ECF8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209A3006-DB51-CF79-167E-AAB305477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7E04BBD-A8A4-CD3D-C4C8-2B7E89F47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4227" y="365125"/>
            <a:ext cx="5609573" cy="1346439"/>
          </a:xfrm>
        </p:spPr>
        <p:txBody>
          <a:bodyPr/>
          <a:lstStyle/>
          <a:p>
            <a:r>
              <a:rPr lang="pl-PL">
                <a:ea typeface="+mj-lt"/>
                <a:cs typeface="+mj-lt"/>
              </a:rPr>
              <a:t>Zastosowania praktyczne</a:t>
            </a:r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054F516-466B-6B0F-2E29-F96BE7751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4227" y="1825625"/>
            <a:ext cx="5609573" cy="435133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pl-PL"/>
              <a:t>Gdzie wykorzystuje się Ansible i AWX?</a:t>
            </a:r>
          </a:p>
          <a:p>
            <a:r>
              <a:rPr lang="pl-PL">
                <a:ea typeface="+mn-lt"/>
                <a:cs typeface="+mn-lt"/>
              </a:rPr>
              <a:t>Automatyczne wdrażanie serwerów </a:t>
            </a:r>
            <a:endParaRPr lang="pl-PL"/>
          </a:p>
          <a:p>
            <a:r>
              <a:rPr lang="pl-PL">
                <a:ea typeface="+mn-lt"/>
                <a:cs typeface="+mn-lt"/>
              </a:rPr>
              <a:t>Deployment aplikacji </a:t>
            </a:r>
            <a:endParaRPr lang="pl-PL"/>
          </a:p>
          <a:p>
            <a:r>
              <a:rPr lang="pl-PL">
                <a:ea typeface="+mn-lt"/>
                <a:cs typeface="+mn-lt"/>
              </a:rPr>
              <a:t>Zarządzanie środowiskami developerskimi </a:t>
            </a:r>
            <a:endParaRPr lang="pl-PL"/>
          </a:p>
          <a:p>
            <a:r>
              <a:rPr lang="pl-PL">
                <a:ea typeface="+mn-lt"/>
                <a:cs typeface="+mn-lt"/>
              </a:rPr>
              <a:t>Aktualizacje systemów Linux </a:t>
            </a:r>
            <a:endParaRPr lang="pl-PL"/>
          </a:p>
          <a:p>
            <a:r>
              <a:rPr lang="pl-PL">
                <a:ea typeface="+mn-lt"/>
                <a:cs typeface="+mn-lt"/>
              </a:rPr>
              <a:t>Zarządzanie chmurą </a:t>
            </a:r>
            <a:endParaRPr lang="pl-PL"/>
          </a:p>
          <a:p>
            <a:r>
              <a:rPr lang="pl-PL">
                <a:ea typeface="+mn-lt"/>
                <a:cs typeface="+mn-lt"/>
              </a:rPr>
              <a:t>Konfiguracja sieci </a:t>
            </a:r>
            <a:endParaRPr lang="pl-PL"/>
          </a:p>
          <a:p>
            <a:r>
              <a:rPr lang="pl-PL">
                <a:ea typeface="+mn-lt"/>
                <a:cs typeface="+mn-lt"/>
              </a:rPr>
              <a:t>Automatyzacja DevOps </a:t>
            </a:r>
            <a:endParaRPr lang="pl-PL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52293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AF05B84D-0ADB-01A9-C3B0-FCAF54B97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ectangle 9">
            <a:extLst>
              <a:ext uri="{FF2B5EF4-FFF2-40B4-BE49-F238E27FC236}">
                <a16:creationId xmlns:a16="http://schemas.microsoft.com/office/drawing/2014/main" id="{6481034A-6043-907C-DCB4-6034C6FD6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B2C9F4F-7A3A-9F36-4F38-49F9408F35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F0D663DE-CD0F-412B-5F4D-741C4788A0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51E14AB2-B754-F847-BD49-E90F294C0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7">
            <a:extLst>
              <a:ext uri="{FF2B5EF4-FFF2-40B4-BE49-F238E27FC236}">
                <a16:creationId xmlns:a16="http://schemas.microsoft.com/office/drawing/2014/main" id="{D08663DB-4F59-D9A0-18E0-AADED83C0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DFE044EF-2821-931A-A8B1-719605085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04CA50A-1D22-41F7-DF92-41BDE63B2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5021" y="365125"/>
            <a:ext cx="5828779" cy="1346439"/>
          </a:xfrm>
        </p:spPr>
        <p:txBody>
          <a:bodyPr/>
          <a:lstStyle/>
          <a:p>
            <a:r>
              <a:rPr lang="pl-PL">
                <a:ea typeface="+mj-lt"/>
                <a:cs typeface="+mj-lt"/>
              </a:rPr>
              <a:t>Podsumowanie</a:t>
            </a:r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F7E7C47-9D2A-0537-A97E-1AC36A33F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5021" y="1825625"/>
            <a:ext cx="5828779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457200" indent="-457200"/>
            <a:r>
              <a:rPr lang="pl-PL">
                <a:ea typeface="+mn-lt"/>
                <a:cs typeface="+mn-lt"/>
              </a:rPr>
              <a:t>Infrastructure as Code pozwala zarządzać infrastrukturą za pomocą kodu. </a:t>
            </a:r>
            <a:endParaRPr lang="pl-PL" dirty="0"/>
          </a:p>
          <a:p>
            <a:pPr marL="457200" indent="-457200"/>
            <a:r>
              <a:rPr lang="pl-PL">
                <a:ea typeface="+mn-lt"/>
                <a:cs typeface="+mn-lt"/>
              </a:rPr>
              <a:t>Ansible automatyzuje konfigurację i administrację systemami. </a:t>
            </a:r>
            <a:endParaRPr lang="pl-PL"/>
          </a:p>
          <a:p>
            <a:pPr marL="457200" indent="-457200"/>
            <a:r>
              <a:rPr lang="pl-PL">
                <a:ea typeface="+mn-lt"/>
                <a:cs typeface="+mn-lt"/>
              </a:rPr>
              <a:t>AWX rozszerza możliwości Ansible o interfejs graficzny i centralne zarządzanie. </a:t>
            </a:r>
            <a:endParaRPr lang="pl-PL"/>
          </a:p>
          <a:p>
            <a:pPr marL="457200" indent="-457200"/>
            <a:r>
              <a:rPr lang="pl-PL">
                <a:ea typeface="+mn-lt"/>
                <a:cs typeface="+mn-lt"/>
              </a:rPr>
              <a:t>Narzędzia te są podstawą nowoczesnych środowisk DevOps i CI/CD.</a:t>
            </a:r>
            <a:endParaRPr lang="pl-PL"/>
          </a:p>
          <a:p>
            <a:pPr marL="457200" indent="-457200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49021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7D1E276-73A3-DE1C-D427-412B8B0F2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4963" y="592354"/>
            <a:ext cx="10274008" cy="5617312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z="1800">
                <a:solidFill>
                  <a:schemeClr val="bg1"/>
                </a:solidFill>
                <a:ea typeface="+mn-lt"/>
                <a:cs typeface="+mn-lt"/>
                <a:hlinkClick r:id="rId2"/>
              </a:rPr>
              <a:t>https://docs.ansible.com</a:t>
            </a:r>
            <a:endParaRPr lang="pl-PL" sz="180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pl-PL" sz="1800">
                <a:solidFill>
                  <a:schemeClr val="bg1"/>
                </a:solidFill>
                <a:ea typeface="+mn-lt"/>
                <a:cs typeface="+mn-lt"/>
                <a:hlinkClick r:id="rId3"/>
              </a:rPr>
              <a:t>https://github.com/ansible</a:t>
            </a:r>
          </a:p>
          <a:p>
            <a:r>
              <a:rPr lang="pl-PL" sz="1800">
                <a:solidFill>
                  <a:schemeClr val="bg1"/>
                </a:solidFill>
                <a:ea typeface="+mn-lt"/>
                <a:cs typeface="+mn-lt"/>
                <a:hlinkClick r:id="rId4"/>
              </a:rPr>
              <a:t>https://www.redhat.com/en/topics/automation/what-is-infrastructure-as-code-iac?utm</a:t>
            </a:r>
          </a:p>
          <a:p>
            <a:r>
              <a:rPr lang="pl-PL" sz="1800">
                <a:solidFill>
                  <a:schemeClr val="bg1"/>
                </a:solidFill>
                <a:ea typeface="+mn-lt"/>
                <a:cs typeface="+mn-lt"/>
                <a:hlinkClick r:id="rId5"/>
              </a:rPr>
              <a:t>https://www.ibm.com/think/topics/infrastructure-as-code</a:t>
            </a:r>
            <a:endParaRPr lang="pl-PL" sz="180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pl-PL" sz="1800">
                <a:solidFill>
                  <a:schemeClr val="bg1"/>
                </a:solidFill>
                <a:ea typeface="+mn-lt"/>
                <a:cs typeface="+mn-lt"/>
              </a:rPr>
              <a:t>Docs.ansible.com/projects/awx/en/latest/</a:t>
            </a:r>
          </a:p>
          <a:p>
            <a:r>
              <a:rPr lang="pl-PL" sz="1800">
                <a:solidFill>
                  <a:schemeClr val="bg1"/>
                </a:solidFill>
                <a:ea typeface="+mn-lt"/>
                <a:cs typeface="+mn-lt"/>
              </a:rPr>
              <a:t>en.wikipedia.org/wiki/Infrastructure_as_code</a:t>
            </a:r>
          </a:p>
          <a:p>
            <a:r>
              <a:rPr lang="pl-PL" sz="1800">
                <a:solidFill>
                  <a:schemeClr val="bg1"/>
                </a:solidFill>
                <a:ea typeface="+mn-lt"/>
                <a:cs typeface="+mn-lt"/>
              </a:rPr>
              <a:t>Arxiv.org/abs/2206.10344</a:t>
            </a:r>
          </a:p>
          <a:p>
            <a:r>
              <a:rPr lang="pl-PL" sz="1800">
                <a:solidFill>
                  <a:schemeClr val="bg1"/>
                </a:solidFill>
                <a:ea typeface="+mn-lt"/>
                <a:cs typeface="+mn-lt"/>
              </a:rPr>
              <a:t>arxiv.org/abs/1809.07937</a:t>
            </a:r>
          </a:p>
          <a:p>
            <a:endParaRPr lang="pl-PL" sz="1800">
              <a:solidFill>
                <a:schemeClr val="bg1"/>
              </a:solidFill>
              <a:ea typeface="+mn-lt"/>
              <a:cs typeface="+mn-lt"/>
            </a:endParaRPr>
          </a:p>
          <a:p>
            <a:endParaRPr lang="pl-PL" sz="1800">
              <a:solidFill>
                <a:schemeClr val="bg1"/>
              </a:solidFill>
              <a:ea typeface="+mn-lt"/>
              <a:cs typeface="+mn-lt"/>
            </a:endParaRPr>
          </a:p>
          <a:p>
            <a:endParaRPr lang="pl-PL" sz="1800">
              <a:solidFill>
                <a:schemeClr val="bg1"/>
              </a:solidFill>
              <a:ea typeface="+mn-lt"/>
              <a:cs typeface="+mn-lt"/>
            </a:endParaRPr>
          </a:p>
          <a:p>
            <a:endParaRPr lang="pl-PL" sz="1800">
              <a:solidFill>
                <a:schemeClr val="bg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0262302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Panoramiczny</PresentationFormat>
  <Paragraphs>0</Paragraphs>
  <Slides>12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3" baseType="lpstr">
      <vt:lpstr>Motyw pakietu Office</vt:lpstr>
      <vt:lpstr>Ansible, AWX oraz IaC</vt:lpstr>
      <vt:lpstr>Czym jest Infrastructure as Code (IaC)?</vt:lpstr>
      <vt:lpstr>Zalety IaC</vt:lpstr>
      <vt:lpstr>Czym jest Ansible? Ansible to narzędzie do automatyzacji IT stworzone przez firmę Red Hat.</vt:lpstr>
      <vt:lpstr>Jak działa Ansible?</vt:lpstr>
      <vt:lpstr>Przykładowy Playbook:</vt:lpstr>
      <vt:lpstr>AWX to open-source’owy interfejs webowy dla Ansible.</vt:lpstr>
      <vt:lpstr>Funkcje AWX</vt:lpstr>
      <vt:lpstr>Ansible vs AWX</vt:lpstr>
      <vt:lpstr>Zastosowania praktyczne</vt:lpstr>
      <vt:lpstr>Podsumowanie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140</cp:revision>
  <dcterms:created xsi:type="dcterms:W3CDTF">2026-05-14T08:07:44Z</dcterms:created>
  <dcterms:modified xsi:type="dcterms:W3CDTF">2026-05-15T09:00:33Z</dcterms:modified>
</cp:coreProperties>
</file>